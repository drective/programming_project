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>
              <a:defRPr/>
            </a:pPr>
            <a:r>
              <a:rPr lang="ko-KR" altLang="en-US" sz="5700" b="1"/>
              <a:t>데이터 처리</a:t>
            </a:r>
            <a:r>
              <a:rPr lang="en-US" altLang="ko-KR" sz="5700" b="1"/>
              <a:t>/</a:t>
            </a:r>
            <a:r>
              <a:rPr lang="ko-KR" altLang="en-US" sz="5700" b="1"/>
              <a:t>관리</a:t>
            </a:r>
            <a:endParaRPr lang="ko-KR" altLang="en-US" sz="5700" b="1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345543" y="4907225"/>
            <a:ext cx="3648555" cy="1752600"/>
          </a:xfrm>
        </p:spPr>
        <p:txBody>
          <a:bodyPr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주차장 차량 관리</a:t>
            </a:r>
            <a:endParaRPr xmlns:mc="http://schemas.openxmlformats.org/markup-compatibility/2006" xmlns:hp="http://schemas.haansoft.com/office/presentation/8.0" b="0" i="0" u="none" strike="noStrike" baseline="0" mc:Ignorable="hp" hp:hslEmbossed="0">
              <a:solidFill>
                <a:srgbClr val="000000"/>
              </a:solidFill>
              <a:latin typeface="함초롬바탕"/>
              <a:ea typeface="함초롬바탕"/>
              <a:cs typeface="함초롬바탕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/>
              <a:t>2025245091</a:t>
            </a:r>
            <a:r>
              <a:rPr lang="ko-KR" altLang="en-US"/>
              <a:t> 임상민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711076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주차장 관리 프로그램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lvl="0">
              <a:defRPr/>
            </a:pPr>
            <a:r>
              <a:rPr lang="ko-KR" altLang="en-US" sz="2200"/>
              <a:t>지하 </a:t>
            </a:r>
            <a:r>
              <a:rPr lang="en-US" altLang="ko-KR" sz="2200"/>
              <a:t>3</a:t>
            </a:r>
            <a:r>
              <a:rPr lang="ko-KR" altLang="en-US" sz="2200"/>
              <a:t>층</a:t>
            </a:r>
            <a:r>
              <a:rPr lang="en-US" altLang="ko-KR" sz="2200"/>
              <a:t>,</a:t>
            </a:r>
            <a:r>
              <a:rPr lang="ko-KR" altLang="en-US" sz="2200"/>
              <a:t> 총 </a:t>
            </a:r>
            <a:r>
              <a:rPr lang="en-US" altLang="ko-KR" sz="2200"/>
              <a:t>120</a:t>
            </a:r>
            <a:r>
              <a:rPr lang="ko-KR" altLang="en-US" sz="2200"/>
              <a:t>개의 주차 공간을 관리하는 시스템</a:t>
            </a:r>
            <a:endParaRPr lang="ko-KR" altLang="en-US" sz="2200"/>
          </a:p>
          <a:p>
            <a:pPr lvl="0">
              <a:defRPr/>
            </a:pPr>
            <a:r>
              <a:rPr lang="ko-KR" altLang="en-US" sz="2200"/>
              <a:t>시스템 구조 설계</a:t>
            </a:r>
            <a:endParaRPr lang="ko-KR" altLang="en-US" sz="2200"/>
          </a:p>
          <a:p>
            <a:pPr marL="0" lvl="0" indent="0">
              <a:buNone/>
              <a:defRPr/>
            </a:pPr>
            <a:r>
              <a:rPr lang="ko-KR" altLang="en-US" sz="2200"/>
              <a:t>    </a:t>
            </a:r>
            <a:r>
              <a:rPr lang="en-US" altLang="ko-KR" sz="2200"/>
              <a:t>-</a:t>
            </a:r>
            <a:r>
              <a:rPr lang="ko-KR" altLang="en-US" sz="2200"/>
              <a:t> </a:t>
            </a:r>
            <a:r>
              <a:rPr lang="en-US" altLang="ko-KR" sz="2200"/>
              <a:t>struct ParkingSpot</a:t>
            </a:r>
            <a:r>
              <a:rPr lang="ko-KR" altLang="en-US" sz="2200"/>
              <a:t> </a:t>
            </a:r>
            <a:r>
              <a:rPr lang="en-US" altLang="ko-KR" sz="2200"/>
              <a:t>:</a:t>
            </a:r>
            <a:r>
              <a:rPr lang="ko-KR" altLang="en-US" sz="2200"/>
              <a:t> 구조체로 차량 정보 통합 관리</a:t>
            </a:r>
            <a:endParaRPr lang="ko-KR" altLang="en-US" sz="2200"/>
          </a:p>
          <a:p>
            <a:pPr marL="0" lvl="0" indent="0">
              <a:buNone/>
              <a:defRPr/>
            </a:pPr>
            <a:r>
              <a:rPr lang="ko-KR" altLang="en-US" sz="2200"/>
              <a:t>    </a:t>
            </a:r>
            <a:r>
              <a:rPr lang="en-US" altLang="ko-KR" sz="2200"/>
              <a:t>-</a:t>
            </a:r>
            <a:r>
              <a:rPr lang="ko-KR" altLang="en-US" sz="2200"/>
              <a:t> </a:t>
            </a:r>
            <a:r>
              <a:rPr lang="en-US" altLang="ko-KR" sz="2200"/>
              <a:t>parkingLotp[3][40]</a:t>
            </a:r>
            <a:r>
              <a:rPr lang="ko-KR" altLang="en-US" sz="2200"/>
              <a:t> </a:t>
            </a:r>
            <a:r>
              <a:rPr lang="en-US" altLang="ko-KR" sz="2200"/>
              <a:t>:</a:t>
            </a:r>
            <a:r>
              <a:rPr lang="ko-KR" altLang="en-US" sz="2200"/>
              <a:t> </a:t>
            </a:r>
            <a:r>
              <a:rPr lang="en-US" altLang="ko-KR" sz="2200"/>
              <a:t>2</a:t>
            </a:r>
            <a:r>
              <a:rPr lang="ko-KR" altLang="en-US" sz="2200"/>
              <a:t>차원 배열을 통한 주차 공간 확보</a:t>
            </a:r>
            <a:endParaRPr lang="ko-KR" altLang="en-US" sz="2200"/>
          </a:p>
          <a:p>
            <a:pPr marL="342900" lvl="0" indent="-342900">
              <a:defRPr/>
            </a:pPr>
            <a:r>
              <a:rPr lang="ko-KR" altLang="en-US" sz="2200"/>
              <a:t>입차 및 데이터 파싱</a:t>
            </a:r>
            <a:endParaRPr lang="ko-KR" altLang="en-US" sz="2200"/>
          </a:p>
          <a:p>
            <a:pPr marL="0" lvl="0" indent="0">
              <a:buNone/>
              <a:defRPr/>
            </a:pPr>
            <a:r>
              <a:rPr lang="ko-KR" altLang="en-US" sz="2200"/>
              <a:t>    </a:t>
            </a:r>
            <a:r>
              <a:rPr lang="en-US" altLang="ko-KR" sz="2200"/>
              <a:t>-</a:t>
            </a:r>
            <a:r>
              <a:rPr lang="ko-KR" altLang="en-US" sz="2200"/>
              <a:t> </a:t>
            </a:r>
            <a:r>
              <a:rPr lang="en-US" altLang="ko-KR" sz="2200"/>
              <a:t>sscanf_s</a:t>
            </a:r>
            <a:r>
              <a:rPr lang="ko-KR" altLang="en-US" sz="2200"/>
              <a:t>를 활용해 문자열을 층</a:t>
            </a:r>
            <a:r>
              <a:rPr lang="en-US" altLang="ko-KR" sz="2200"/>
              <a:t>,</a:t>
            </a:r>
            <a:r>
              <a:rPr lang="ko-KR" altLang="en-US" sz="2200"/>
              <a:t> 구역</a:t>
            </a:r>
            <a:r>
              <a:rPr lang="en-US" altLang="ko-KR" sz="2200"/>
              <a:t>,</a:t>
            </a:r>
            <a:r>
              <a:rPr lang="ko-KR" altLang="en-US" sz="2200"/>
              <a:t> 번호로 분리</a:t>
            </a:r>
            <a:endParaRPr lang="ko-KR" altLang="en-US" sz="2200"/>
          </a:p>
          <a:p>
            <a:pPr marL="0" lvl="0" indent="0">
              <a:buNone/>
              <a:defRPr/>
            </a:pPr>
            <a:r>
              <a:rPr lang="ko-KR" altLang="en-US" sz="2200"/>
              <a:t>    </a:t>
            </a:r>
            <a:r>
              <a:rPr lang="en-US" altLang="ko-KR" sz="2200"/>
              <a:t>-</a:t>
            </a:r>
            <a:r>
              <a:rPr lang="ko-KR" altLang="en-US" sz="2200"/>
              <a:t> </a:t>
            </a:r>
            <a:r>
              <a:rPr lang="en-US" altLang="ko-KR" sz="2200"/>
              <a:t>isValidFormat</a:t>
            </a:r>
            <a:r>
              <a:rPr lang="ko-KR" altLang="en-US" sz="2200"/>
              <a:t> 함수를 활용한 번호판 유효성 검사</a:t>
            </a:r>
            <a:endParaRPr lang="ko-KR" altLang="en-US" sz="2200"/>
          </a:p>
          <a:p>
            <a:pPr marL="342900" lvl="0" indent="-342900">
              <a:defRPr/>
            </a:pPr>
            <a:r>
              <a:rPr lang="ko-KR" altLang="en-US" sz="2200"/>
              <a:t>자동 요금 정산</a:t>
            </a:r>
            <a:endParaRPr lang="ko-KR" altLang="en-US" sz="2200"/>
          </a:p>
          <a:p>
            <a:pPr marL="0" lvl="0" indent="0">
              <a:buNone/>
              <a:defRPr/>
            </a:pPr>
            <a:r>
              <a:rPr lang="ko-KR" altLang="en-US" sz="2200"/>
              <a:t>    </a:t>
            </a:r>
            <a:r>
              <a:rPr lang="en-US" altLang="ko-KR" sz="2200"/>
              <a:t>-</a:t>
            </a:r>
            <a:r>
              <a:rPr lang="ko-KR" altLang="en-US" sz="2200"/>
              <a:t> </a:t>
            </a:r>
            <a:r>
              <a:rPr lang="en-US" altLang="ko-KR" sz="2200"/>
              <a:t>time.h</a:t>
            </a:r>
            <a:r>
              <a:rPr lang="ko-KR" altLang="en-US" sz="2200"/>
              <a:t>를 이용한 정확한 주차 시간 계산</a:t>
            </a:r>
            <a:endParaRPr lang="ko-KR" altLang="en-US" sz="2200"/>
          </a:p>
          <a:p>
            <a:pPr marL="0" lvl="0" indent="0">
              <a:buNone/>
              <a:defRPr/>
            </a:pPr>
            <a:r>
              <a:rPr lang="ko-KR" altLang="en-US" sz="2200"/>
              <a:t>    </a:t>
            </a:r>
            <a:r>
              <a:rPr lang="en-US" altLang="ko-KR" sz="2200"/>
              <a:t>-</a:t>
            </a:r>
            <a:r>
              <a:rPr lang="ko-KR" altLang="en-US" sz="2200"/>
              <a:t> </a:t>
            </a:r>
            <a:r>
              <a:rPr lang="en-US" altLang="ko-KR" sz="2200"/>
              <a:t>math.h</a:t>
            </a:r>
            <a:r>
              <a:rPr lang="ko-KR" altLang="en-US" sz="2200"/>
              <a:t>에서의 </a:t>
            </a:r>
            <a:r>
              <a:rPr lang="en-US" altLang="ko-KR" sz="2200"/>
              <a:t>ceil</a:t>
            </a:r>
            <a:r>
              <a:rPr lang="ko-KR" altLang="en-US" sz="2200"/>
              <a:t> 함수를 이용한 시간 올림 처리 및 초과 요금 계산</a:t>
            </a:r>
            <a:endParaRPr lang="ko-KR" altLang="en-US" sz="2200"/>
          </a:p>
          <a:p>
            <a:pPr marL="342900" lvl="0" indent="-342900">
              <a:defRPr/>
            </a:pPr>
            <a:r>
              <a:rPr lang="ko-KR" altLang="en-US" sz="2200"/>
              <a:t>안정성</a:t>
            </a:r>
            <a:endParaRPr lang="ko-KR" altLang="en-US" sz="2200"/>
          </a:p>
          <a:p>
            <a:pPr marL="0" lvl="0" indent="0">
              <a:buNone/>
              <a:defRPr/>
            </a:pPr>
            <a:r>
              <a:rPr lang="ko-KR" altLang="en-US" sz="2200"/>
              <a:t>    </a:t>
            </a:r>
            <a:r>
              <a:rPr lang="en-US" altLang="ko-KR" sz="2200"/>
              <a:t>- scanf_s</a:t>
            </a:r>
            <a:r>
              <a:rPr lang="ko-KR" altLang="en-US" sz="2200"/>
              <a:t>를 이용하여 버퍼 오버플로우 방지</a:t>
            </a:r>
            <a:endParaRPr lang="en-US" altLang="ko-KR" sz="2200"/>
          </a:p>
        </p:txBody>
      </p:sp>
    </p:spTree>
    <p:extLst>
      <p:ext uri="{BB962C8B-B14F-4D97-AF65-F5344CB8AC3E}">
        <p14:creationId xmlns:p14="http://schemas.microsoft.com/office/powerpoint/2010/main" val="3866075746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96366" y="2119469"/>
            <a:ext cx="4834079" cy="2619061"/>
          </a:xfrm>
          <a:prstGeom prst="rect">
            <a:avLst/>
          </a:prstGeom>
        </p:spPr>
      </p:pic>
      <p:grpSp>
        <p:nvGrpSpPr>
          <p:cNvPr id="7" name=""/>
          <p:cNvGrpSpPr/>
          <p:nvPr/>
        </p:nvGrpSpPr>
        <p:grpSpPr>
          <a:xfrm rot="0">
            <a:off x="6836746" y="1608177"/>
            <a:ext cx="5422756" cy="4042443"/>
            <a:chOff x="6238499" y="1323177"/>
            <a:chExt cx="5422756" cy="4042443"/>
          </a:xfrm>
        </p:grpSpPr>
        <p:sp>
          <p:nvSpPr>
            <p:cNvPr id="5" name="가로 글상자 4"/>
            <p:cNvSpPr txBox="1"/>
            <p:nvPr/>
          </p:nvSpPr>
          <p:spPr>
            <a:xfrm>
              <a:off x="6238499" y="1323177"/>
              <a:ext cx="5422756" cy="404244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cls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를 사용하기 위한 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stdlib.h</a:t>
              </a: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문자열 처리를 위한 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string.h</a:t>
              </a:r>
              <a:endParaRPr xmlns:mc="http://schemas.openxmlformats.org/markup-compatibility/2006" xmlns:hp="http://schemas.haansoft.com/office/presentation/8.0" 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시간 계산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, 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요금 계산을 위한 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time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과 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math, </a:t>
              </a: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차량번호 확인을 위한 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ctype</a:t>
              </a:r>
              <a:endParaRPr xmlns:mc="http://schemas.openxmlformats.org/markup-compatibility/2006" xmlns:hp="http://schemas.haansoft.com/office/presentation/8.0" 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xmlns:mc="http://schemas.openxmlformats.org/markup-compatibility/2006" xmlns:hp="http://schemas.haansoft.com/office/presentation/8.0" 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층은 총 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3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개</a:t>
              </a: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층당 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40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개</a:t>
              </a: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의 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주차 공간</a:t>
              </a: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총 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120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대로 공간을 설정</a:t>
              </a:r>
              <a:endParaRPr xmlns:mc="http://schemas.openxmlformats.org/markup-compatibility/2006" xmlns:hp="http://schemas.haansoft.com/office/presentation/8.0" 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238499" y="1449000"/>
              <a:ext cx="4560001" cy="3517500"/>
            </a:xfrm>
            <a:prstGeom prst="rect">
              <a:avLst/>
            </a:prstGeom>
            <a:noFill/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</p:grpSp>
      <p:cxnSp>
        <p:nvCxnSpPr>
          <p:cNvPr id="8" name="화살표 7"/>
          <p:cNvCxnSpPr/>
          <p:nvPr/>
        </p:nvCxnSpPr>
        <p:spPr>
          <a:xfrm>
            <a:off x="5608500" y="3429000"/>
            <a:ext cx="1042500" cy="0"/>
          </a:xfrm>
          <a:prstGeom prst="straightConnector1">
            <a:avLst/>
          </a:prstGeom>
          <a:ln w="762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가로 글상자 8"/>
          <p:cNvSpPr txBox="1"/>
          <p:nvPr/>
        </p:nvSpPr>
        <p:spPr>
          <a:xfrm>
            <a:off x="177800" y="234948"/>
            <a:ext cx="3073400" cy="49022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600" b="1"/>
              <a:t>프로그램 기본 설계</a:t>
            </a:r>
            <a:endParaRPr lang="ko-KR" altLang="en-US" sz="2600" b="1"/>
          </a:p>
        </p:txBody>
      </p:sp>
    </p:spTree>
    <p:extLst>
      <p:ext uri="{BB962C8B-B14F-4D97-AF65-F5344CB8AC3E}">
        <p14:creationId xmlns:p14="http://schemas.microsoft.com/office/powerpoint/2010/main" val="3936325287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90421" y="2066855"/>
            <a:ext cx="4991356" cy="2724290"/>
          </a:xfrm>
          <a:prstGeom prst="rect">
            <a:avLst/>
          </a:prstGeom>
        </p:spPr>
      </p:pic>
      <p:cxnSp>
        <p:nvCxnSpPr>
          <p:cNvPr id="5" name="화살표 4"/>
          <p:cNvCxnSpPr/>
          <p:nvPr/>
        </p:nvCxnSpPr>
        <p:spPr>
          <a:xfrm>
            <a:off x="5791200" y="3429000"/>
            <a:ext cx="859800" cy="0"/>
          </a:xfrm>
          <a:prstGeom prst="straightConnector1">
            <a:avLst/>
          </a:prstGeom>
          <a:ln w="762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"/>
          <p:cNvGrpSpPr/>
          <p:nvPr/>
        </p:nvGrpSpPr>
        <p:grpSpPr>
          <a:xfrm rot="0">
            <a:off x="6886993" y="1401088"/>
            <a:ext cx="4560004" cy="4055823"/>
            <a:chOff x="6836744" y="1608177"/>
            <a:chExt cx="4560004" cy="4055823"/>
          </a:xfrm>
        </p:grpSpPr>
        <p:sp>
          <p:nvSpPr>
            <p:cNvPr id="7" name="가로 글상자 4"/>
            <p:cNvSpPr txBox="1"/>
            <p:nvPr/>
          </p:nvSpPr>
          <p:spPr>
            <a:xfrm>
              <a:off x="6836744" y="1608177"/>
              <a:ext cx="4336434" cy="403824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차 하나가 가져야 할 주차유무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, 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차량번호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, 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주차 시간을 한번에 묶은 것을</a:t>
              </a:r>
              <a:endParaRPr xmlns:mc="http://schemas.openxmlformats.org/markup-compatibility/2006" xmlns:hp="http://schemas.haansoft.com/office/presentation/8.0" 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ParkingSpot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이라는 구조체로 정의</a:t>
              </a: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parkingLot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은 주차 공간을 가정한 </a:t>
              </a:r>
              <a:endParaRPr xmlns:mc="http://schemas.openxmlformats.org/markup-compatibility/2006" xmlns:hp="http://schemas.haansoft.com/office/presentation/8.0" 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2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차원 배열</a:t>
              </a: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carCount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는 실시간으로 주차된 </a:t>
              </a: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차량의 수를 보여주기 위한 값</a:t>
              </a:r>
              <a:endParaRPr lang="ko-KR" altLang="en-US"/>
            </a:p>
          </p:txBody>
        </p:sp>
        <p:sp>
          <p:nvSpPr>
            <p:cNvPr id="8" name="직사각형 5"/>
            <p:cNvSpPr/>
            <p:nvPr/>
          </p:nvSpPr>
          <p:spPr>
            <a:xfrm>
              <a:off x="6836746" y="1733999"/>
              <a:ext cx="4560001" cy="3930001"/>
            </a:xfrm>
            <a:prstGeom prst="rect">
              <a:avLst/>
            </a:prstGeom>
            <a:noFill/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</p:grpSp>
      <p:sp>
        <p:nvSpPr>
          <p:cNvPr id="10" name="가로 글상자 9"/>
          <p:cNvSpPr txBox="1"/>
          <p:nvPr/>
        </p:nvSpPr>
        <p:spPr>
          <a:xfrm>
            <a:off x="177799" y="234948"/>
            <a:ext cx="3429001" cy="48704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600" b="1"/>
              <a:t>핵심 데이터 구조 설계</a:t>
            </a:r>
            <a:endParaRPr lang="ko-KR" altLang="en-US" sz="2600" b="1"/>
          </a:p>
        </p:txBody>
      </p:sp>
    </p:spTree>
    <p:extLst>
      <p:ext uri="{BB962C8B-B14F-4D97-AF65-F5344CB8AC3E}">
        <p14:creationId xmlns:p14="http://schemas.microsoft.com/office/powerpoint/2010/main" val="3231496718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3114" y="1625507"/>
            <a:ext cx="5092986" cy="3606985"/>
          </a:xfrm>
          <a:prstGeom prst="rect">
            <a:avLst/>
          </a:prstGeom>
        </p:spPr>
      </p:pic>
      <p:cxnSp>
        <p:nvCxnSpPr>
          <p:cNvPr id="5" name="화살표 4"/>
          <p:cNvCxnSpPr/>
          <p:nvPr/>
        </p:nvCxnSpPr>
        <p:spPr>
          <a:xfrm>
            <a:off x="5791200" y="3429000"/>
            <a:ext cx="859800" cy="0"/>
          </a:xfrm>
          <a:prstGeom prst="straightConnector1">
            <a:avLst/>
          </a:prstGeom>
          <a:ln w="762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"/>
          <p:cNvGrpSpPr/>
          <p:nvPr/>
        </p:nvGrpSpPr>
        <p:grpSpPr>
          <a:xfrm rot="0">
            <a:off x="6912395" y="2292171"/>
            <a:ext cx="4560004" cy="2273657"/>
            <a:chOff x="6886994" y="1448713"/>
            <a:chExt cx="4560004" cy="2273657"/>
          </a:xfrm>
        </p:grpSpPr>
        <p:sp>
          <p:nvSpPr>
            <p:cNvPr id="7" name="가로 글상자 4"/>
            <p:cNvSpPr txBox="1"/>
            <p:nvPr/>
          </p:nvSpPr>
          <p:spPr>
            <a:xfrm>
              <a:off x="6886994" y="1448713"/>
              <a:ext cx="4336434" cy="2273657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차량의 번호를 입력받고 </a:t>
              </a: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이 것이 정상 범주 안에 있는지 </a:t>
              </a: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길이와 앞 숫자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, 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중간의 한글 여부를 </a:t>
              </a: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체크하는 코드를 구현했습니다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.</a:t>
              </a:r>
              <a:endParaRPr xmlns:mc="http://schemas.openxmlformats.org/markup-compatibility/2006" xmlns:hp="http://schemas.haansoft.com/office/presentation/8.0" 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/>
            </a:p>
          </p:txBody>
        </p:sp>
        <p:sp>
          <p:nvSpPr>
            <p:cNvPr id="8" name="직사각형 5"/>
            <p:cNvSpPr/>
            <p:nvPr/>
          </p:nvSpPr>
          <p:spPr>
            <a:xfrm>
              <a:off x="6886996" y="1526910"/>
              <a:ext cx="4560001" cy="1749689"/>
            </a:xfrm>
            <a:prstGeom prst="rect">
              <a:avLst/>
            </a:prstGeom>
            <a:noFill/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</p:grpSp>
      <p:sp>
        <p:nvSpPr>
          <p:cNvPr id="11" name="가로 글상자 10"/>
          <p:cNvSpPr txBox="1"/>
          <p:nvPr/>
        </p:nvSpPr>
        <p:spPr>
          <a:xfrm>
            <a:off x="177800" y="234948"/>
            <a:ext cx="3835398" cy="48704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600" b="1"/>
              <a:t>입력 데이터 유효성 검사</a:t>
            </a:r>
            <a:endParaRPr lang="ko-KR" altLang="en-US" sz="2600" b="1"/>
          </a:p>
        </p:txBody>
      </p:sp>
    </p:spTree>
    <p:extLst>
      <p:ext uri="{BB962C8B-B14F-4D97-AF65-F5344CB8AC3E}">
        <p14:creationId xmlns:p14="http://schemas.microsoft.com/office/powerpoint/2010/main" val="3379973095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48839" y="771471"/>
            <a:ext cx="7294321" cy="2406756"/>
          </a:xfrm>
          <a:prstGeom prst="rect">
            <a:avLst/>
          </a:prstGeom>
        </p:spPr>
      </p:pic>
      <p:cxnSp>
        <p:nvCxnSpPr>
          <p:cNvPr id="5" name="화살표 4"/>
          <p:cNvCxnSpPr/>
          <p:nvPr/>
        </p:nvCxnSpPr>
        <p:spPr>
          <a:xfrm rot="16200000" flipH="1" flipV="1">
            <a:off x="5613401" y="3870324"/>
            <a:ext cx="965200" cy="2"/>
          </a:xfrm>
          <a:prstGeom prst="straightConnector1">
            <a:avLst/>
          </a:prstGeom>
          <a:ln w="762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"/>
          <p:cNvGrpSpPr/>
          <p:nvPr/>
        </p:nvGrpSpPr>
        <p:grpSpPr>
          <a:xfrm rot="0">
            <a:off x="2088799" y="4524324"/>
            <a:ext cx="8014402" cy="1404673"/>
            <a:chOff x="2175296" y="4070297"/>
            <a:chExt cx="8014402" cy="1404673"/>
          </a:xfrm>
        </p:grpSpPr>
        <p:sp>
          <p:nvSpPr>
            <p:cNvPr id="7" name="가로 글상자 4"/>
            <p:cNvSpPr txBox="1"/>
            <p:nvPr/>
          </p:nvSpPr>
          <p:spPr>
            <a:xfrm>
              <a:off x="2175296" y="4070297"/>
              <a:ext cx="8014402" cy="1404673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입력된 </a:t>
              </a:r>
              <a:r>
                <a:rPr xmlns:mc="http://schemas.openxmlformats.org/markup-compatibility/2006" xmlns:hp="http://schemas.haansoft.com/office/presentation/8.0" lang="en-US" altLang="ko-KR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B1-A5</a:t>
              </a: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와 같은 형식의 문자열을 파싱하여 값으로 바꿈</a:t>
              </a:r>
              <a:endParaRPr xmlns:mc="http://schemas.openxmlformats.org/markup-compatibility/2006" xmlns:hp="http://schemas.haansoft.com/office/presentation/8.0" lang="ko-KR" alt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층수와 번호가 주어진 범위 내에 있는지 확인하여 오류 방지</a:t>
              </a:r>
              <a:endParaRPr xmlns:mc="http://schemas.openxmlformats.org/markup-compatibility/2006" xmlns:hp="http://schemas.haansoft.com/office/presentation/8.0" lang="ko-KR" alt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주차 공간에서 </a:t>
              </a:r>
              <a:r>
                <a:rPr xmlns:mc="http://schemas.openxmlformats.org/markup-compatibility/2006" xmlns:hp="http://schemas.haansoft.com/office/presentation/8.0" lang="en-US" altLang="ko-KR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A, B, C, D</a:t>
              </a: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를 서로 값으로 구분지음</a:t>
              </a:r>
              <a:endParaRPr xmlns:mc="http://schemas.openxmlformats.org/markup-compatibility/2006" xmlns:hp="http://schemas.haansoft.com/office/presentation/8.0" lang="ko-KR" alt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</p:txBody>
        </p:sp>
        <p:sp>
          <p:nvSpPr>
            <p:cNvPr id="8" name="직사각형 5"/>
            <p:cNvSpPr/>
            <p:nvPr/>
          </p:nvSpPr>
          <p:spPr>
            <a:xfrm>
              <a:off x="2175296" y="4163430"/>
              <a:ext cx="8014402" cy="1311539"/>
            </a:xfrm>
            <a:prstGeom prst="rect">
              <a:avLst/>
            </a:prstGeom>
            <a:noFill/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</p:grpSp>
      <p:sp>
        <p:nvSpPr>
          <p:cNvPr id="10" name="가로 글상자 9"/>
          <p:cNvSpPr txBox="1"/>
          <p:nvPr/>
        </p:nvSpPr>
        <p:spPr>
          <a:xfrm>
            <a:off x="177800" y="234948"/>
            <a:ext cx="4229100" cy="48704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600" b="1"/>
              <a:t>위치 문자열 변환 알고리즘</a:t>
            </a:r>
            <a:endParaRPr lang="ko-KR" altLang="en-US" sz="2600" b="1"/>
          </a:p>
        </p:txBody>
      </p:sp>
    </p:spTree>
    <p:extLst>
      <p:ext uri="{BB962C8B-B14F-4D97-AF65-F5344CB8AC3E}">
        <p14:creationId xmlns:p14="http://schemas.microsoft.com/office/powerpoint/2010/main" val="2076013640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69966" y="946127"/>
            <a:ext cx="6452067" cy="1536744"/>
          </a:xfrm>
          <a:prstGeom prst="rect">
            <a:avLst/>
          </a:prstGeom>
        </p:spPr>
      </p:pic>
      <p:cxnSp>
        <p:nvCxnSpPr>
          <p:cNvPr id="5" name="화살표 4"/>
          <p:cNvCxnSpPr/>
          <p:nvPr/>
        </p:nvCxnSpPr>
        <p:spPr>
          <a:xfrm rot="16200000" flipH="1" flipV="1">
            <a:off x="5613401" y="3314699"/>
            <a:ext cx="965200" cy="2"/>
          </a:xfrm>
          <a:prstGeom prst="straightConnector1">
            <a:avLst/>
          </a:prstGeom>
          <a:ln w="762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/>
          <p:cNvGrpSpPr/>
          <p:nvPr/>
        </p:nvGrpSpPr>
        <p:grpSpPr>
          <a:xfrm rot="0">
            <a:off x="2088799" y="4137004"/>
            <a:ext cx="8014402" cy="1404674"/>
            <a:chOff x="2175296" y="4070296"/>
            <a:chExt cx="8014402" cy="1404674"/>
          </a:xfrm>
        </p:grpSpPr>
        <p:sp>
          <p:nvSpPr>
            <p:cNvPr id="7" name="가로 글상자 4"/>
            <p:cNvSpPr txBox="1"/>
            <p:nvPr/>
          </p:nvSpPr>
          <p:spPr>
            <a:xfrm>
              <a:off x="2175296" y="4070296"/>
              <a:ext cx="8014402" cy="140464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요금 계산을 올림으로 처리하는 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ceil</a:t>
              </a: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함수를 이용하여 </a:t>
              </a:r>
              <a:endParaRPr xmlns:mc="http://schemas.openxmlformats.org/markup-compatibility/2006" xmlns:hp="http://schemas.haansoft.com/office/presentation/8.0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차량에게 부여된 요금 부분을 구현</a:t>
              </a:r>
              <a:r>
                <a:rPr xmlns:mc="http://schemas.openxmlformats.org/markup-compatibility/2006" xmlns:hp="http://schemas.haansoft.com/office/presentation/8.0" 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.</a:t>
              </a:r>
              <a:endParaRPr xmlns:mc="http://schemas.openxmlformats.org/markup-compatibility/2006" xmlns:hp="http://schemas.haansoft.com/office/presentation/8.0" 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lang="en-US" altLang="ko-KR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2</a:t>
              </a: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시간 전 </a:t>
              </a:r>
              <a:r>
                <a:rPr xmlns:mc="http://schemas.openxmlformats.org/markup-compatibility/2006" xmlns:hp="http://schemas.haansoft.com/office/presentation/8.0" lang="en-US" altLang="ko-KR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=</a:t>
              </a: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 무료</a:t>
              </a:r>
              <a:r>
                <a:rPr xmlns:mc="http://schemas.openxmlformats.org/markup-compatibility/2006" xmlns:hp="http://schemas.haansoft.com/office/presentation/8.0" lang="en-US" altLang="ko-KR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,</a:t>
              </a: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 </a:t>
              </a:r>
              <a:r>
                <a:rPr xmlns:mc="http://schemas.openxmlformats.org/markup-compatibility/2006" xmlns:hp="http://schemas.haansoft.com/office/presentation/8.0" lang="en-US" altLang="ko-KR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2</a:t>
              </a: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시간 이후 </a:t>
              </a:r>
              <a:r>
                <a:rPr xmlns:mc="http://schemas.openxmlformats.org/markup-compatibility/2006" xmlns:hp="http://schemas.haansoft.com/office/presentation/8.0" lang="en-US" altLang="ko-KR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1</a:t>
              </a: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시간 초과마다 </a:t>
              </a:r>
              <a:r>
                <a:rPr xmlns:mc="http://schemas.openxmlformats.org/markup-compatibility/2006" xmlns:hp="http://schemas.haansoft.com/office/presentation/8.0" lang="en-US" altLang="ko-KR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1000</a:t>
              </a: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</a:rPr>
                <a:t>원씩 부과</a:t>
              </a:r>
              <a:endParaRPr xmlns:mc="http://schemas.openxmlformats.org/markup-compatibility/2006" xmlns:hp="http://schemas.haansoft.com/office/presentation/8.0" lang="ko-KR" alt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</p:txBody>
        </p:sp>
        <p:sp>
          <p:nvSpPr>
            <p:cNvPr id="8" name="직사각형 5"/>
            <p:cNvSpPr/>
            <p:nvPr/>
          </p:nvSpPr>
          <p:spPr>
            <a:xfrm>
              <a:off x="2175296" y="4163430"/>
              <a:ext cx="8014402" cy="1311539"/>
            </a:xfrm>
            <a:prstGeom prst="rect">
              <a:avLst/>
            </a:prstGeom>
            <a:noFill/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</p:grpSp>
      <p:sp>
        <p:nvSpPr>
          <p:cNvPr id="9" name="가로 글상자 8"/>
          <p:cNvSpPr txBox="1"/>
          <p:nvPr/>
        </p:nvSpPr>
        <p:spPr>
          <a:xfrm>
            <a:off x="177800" y="234948"/>
            <a:ext cx="3810000" cy="48704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600" b="1"/>
              <a:t>시간 기반 요금 자동 계산</a:t>
            </a:r>
            <a:endParaRPr lang="ko-KR" altLang="en-US" sz="2600" b="1"/>
          </a:p>
        </p:txBody>
      </p:sp>
    </p:spTree>
    <p:extLst>
      <p:ext uri="{BB962C8B-B14F-4D97-AF65-F5344CB8AC3E}">
        <p14:creationId xmlns:p14="http://schemas.microsoft.com/office/powerpoint/2010/main" val="3131405881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"/>
          <p:cNvGrpSpPr/>
          <p:nvPr/>
        </p:nvGrpSpPr>
        <p:grpSpPr>
          <a:xfrm rot="0">
            <a:off x="1292468" y="946136"/>
            <a:ext cx="9607063" cy="1522715"/>
            <a:chOff x="1292469" y="1187436"/>
            <a:chExt cx="9607063" cy="152271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319633" y="1187436"/>
              <a:ext cx="9552734" cy="800126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1292469" y="2089163"/>
              <a:ext cx="9607063" cy="620988"/>
            </a:xfrm>
            <a:prstGeom prst="rect">
              <a:avLst/>
            </a:prstGeom>
          </p:spPr>
        </p:pic>
      </p:grpSp>
      <p:cxnSp>
        <p:nvCxnSpPr>
          <p:cNvPr id="7" name="화살표 6"/>
          <p:cNvCxnSpPr/>
          <p:nvPr/>
        </p:nvCxnSpPr>
        <p:spPr>
          <a:xfrm rot="16200000" flipH="1" flipV="1">
            <a:off x="5613401" y="3314699"/>
            <a:ext cx="965200" cy="2"/>
          </a:xfrm>
          <a:prstGeom prst="straightConnector1">
            <a:avLst/>
          </a:prstGeom>
          <a:ln w="76200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 rot="0">
            <a:off x="2088799" y="4156054"/>
            <a:ext cx="8014402" cy="1404674"/>
            <a:chOff x="2175296" y="4070296"/>
            <a:chExt cx="8014402" cy="1404674"/>
          </a:xfrm>
        </p:grpSpPr>
        <p:sp>
          <p:nvSpPr>
            <p:cNvPr id="9" name="가로 글상자 4"/>
            <p:cNvSpPr txBox="1"/>
            <p:nvPr/>
          </p:nvSpPr>
          <p:spPr>
            <a:xfrm>
              <a:off x="2175296" y="4070296"/>
              <a:ext cx="8014402" cy="1404641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lang="en-US" altLang="ko-KR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2</a:t>
              </a: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중 반복문으로 전체 주차장을 탐색을 하고 만약 차가 존재하고</a:t>
              </a:r>
              <a:endParaRPr xmlns:mc="http://schemas.openxmlformats.org/markup-compatibility/2006" xmlns:hp="http://schemas.haansoft.com/office/presentation/8.0" lang="ko-KR" alt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lang="en-US" altLang="ko-KR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strcmp</a:t>
              </a: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를 통해 번호가 일치하면 검색 성공으로 간주하고</a:t>
              </a:r>
              <a:endParaRPr xmlns:mc="http://schemas.openxmlformats.org/markup-compatibility/2006" xmlns:hp="http://schemas.haansoft.com/office/presentation/8.0" lang="ko-KR" altLang="en-US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  <a:p>
              <a:pPr lvl="0" algn="just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xmlns:mc="http://schemas.openxmlformats.org/markup-compatibility/2006" xmlns:hp="http://schemas.haansoft.com/office/presentation/8.0" lang="ko-KR" altLang="en-US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위치 및 경과 시간 출력 후 종료한다</a:t>
              </a:r>
              <a:r>
                <a:rPr xmlns:mc="http://schemas.openxmlformats.org/markup-compatibility/2006" xmlns:hp="http://schemas.haansoft.com/office/presentation/8.0" lang="en-US" altLang="ko-KR" b="0" i="0" u="none" strike="noStrike" baseline="0" mc:Ignorable="hp" hp:hslEmbossed="0">
                  <a:solidFill>
                    <a:srgbClr val="000000"/>
                  </a:solidFill>
                  <a:latin typeface="함초롬바탕"/>
                  <a:ea typeface="함초롬바탕"/>
                  <a:cs typeface="함초롬바탕"/>
                </a:rPr>
                <a:t>.</a:t>
              </a:r>
              <a:endParaRPr xmlns:mc="http://schemas.openxmlformats.org/markup-compatibility/2006" xmlns:hp="http://schemas.haansoft.com/office/presentation/8.0" lang="en-US" altLang="ko-KR" b="0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endParaRPr>
            </a:p>
          </p:txBody>
        </p:sp>
        <p:sp>
          <p:nvSpPr>
            <p:cNvPr id="10" name="직사각형 5"/>
            <p:cNvSpPr/>
            <p:nvPr/>
          </p:nvSpPr>
          <p:spPr>
            <a:xfrm>
              <a:off x="2175296" y="4163430"/>
              <a:ext cx="8014402" cy="1311539"/>
            </a:xfrm>
            <a:prstGeom prst="rect">
              <a:avLst/>
            </a:prstGeom>
            <a:noFill/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</p:grpSp>
      <p:sp>
        <p:nvSpPr>
          <p:cNvPr id="11" name="가로 글상자 10"/>
          <p:cNvSpPr txBox="1"/>
          <p:nvPr/>
        </p:nvSpPr>
        <p:spPr>
          <a:xfrm>
            <a:off x="177800" y="234948"/>
            <a:ext cx="5054599" cy="48704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600" b="1"/>
              <a:t>차량 번호 기반 위치 및 시간 조회</a:t>
            </a:r>
            <a:endParaRPr lang="ko-KR" altLang="en-US" sz="2600" b="1"/>
          </a:p>
        </p:txBody>
      </p:sp>
    </p:spTree>
    <p:extLst>
      <p:ext uri="{BB962C8B-B14F-4D97-AF65-F5344CB8AC3E}">
        <p14:creationId xmlns:p14="http://schemas.microsoft.com/office/powerpoint/2010/main" val="1335368124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456" y="1523882"/>
            <a:ext cx="5200542" cy="347991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40387" y="1117457"/>
            <a:ext cx="4924628" cy="4013342"/>
          </a:xfrm>
          <a:prstGeom prst="rect">
            <a:avLst/>
          </a:prstGeom>
        </p:spPr>
      </p:pic>
      <p:sp>
        <p:nvSpPr>
          <p:cNvPr id="6" name="가로 글상자 5"/>
          <p:cNvSpPr txBox="1"/>
          <p:nvPr/>
        </p:nvSpPr>
        <p:spPr>
          <a:xfrm>
            <a:off x="177800" y="234948"/>
            <a:ext cx="1701799" cy="48704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600" b="1"/>
              <a:t>시연 캡처</a:t>
            </a:r>
            <a:endParaRPr lang="ko-KR" altLang="en-US" sz="2600" b="1"/>
          </a:p>
        </p:txBody>
      </p:sp>
      <p:sp>
        <p:nvSpPr>
          <p:cNvPr id="7" name="가로 글상자 6"/>
          <p:cNvSpPr txBox="1"/>
          <p:nvPr/>
        </p:nvSpPr>
        <p:spPr>
          <a:xfrm>
            <a:off x="2162163" y="5130799"/>
            <a:ext cx="2667129" cy="547372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3000" b="1"/>
              <a:t>메뉴 선택</a:t>
            </a:r>
            <a:endParaRPr lang="ko-KR" altLang="en-US" sz="3000" b="1"/>
          </a:p>
        </p:txBody>
      </p:sp>
      <p:sp>
        <p:nvSpPr>
          <p:cNvPr id="8" name="가로 글상자 7"/>
          <p:cNvSpPr txBox="1"/>
          <p:nvPr/>
        </p:nvSpPr>
        <p:spPr>
          <a:xfrm>
            <a:off x="7411987" y="5283199"/>
            <a:ext cx="2781429" cy="547372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3000" b="1"/>
              <a:t>메뉴 선택 오류</a:t>
            </a:r>
            <a:endParaRPr lang="ko-KR" altLang="en-US" sz="3000" b="1"/>
          </a:p>
        </p:txBody>
      </p:sp>
    </p:spTree>
    <p:extLst>
      <p:ext uri="{BB962C8B-B14F-4D97-AF65-F5344CB8AC3E}">
        <p14:creationId xmlns:p14="http://schemas.microsoft.com/office/powerpoint/2010/main" val="3845507449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61872" y="1450880"/>
            <a:ext cx="4978655" cy="370224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318125" y="1450880"/>
            <a:ext cx="4864350" cy="3702240"/>
          </a:xfrm>
          <a:prstGeom prst="rect">
            <a:avLst/>
          </a:prstGeom>
        </p:spPr>
      </p:pic>
      <p:sp>
        <p:nvSpPr>
          <p:cNvPr id="6" name="가로 글상자 5"/>
          <p:cNvSpPr txBox="1"/>
          <p:nvPr/>
        </p:nvSpPr>
        <p:spPr>
          <a:xfrm>
            <a:off x="177800" y="234948"/>
            <a:ext cx="1701799" cy="48704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600" b="1"/>
              <a:t>시연 캡처</a:t>
            </a:r>
            <a:endParaRPr lang="ko-KR" altLang="en-US" sz="2600" b="1"/>
          </a:p>
        </p:txBody>
      </p:sp>
      <p:sp>
        <p:nvSpPr>
          <p:cNvPr id="7" name="가로 글상자 6"/>
          <p:cNvSpPr txBox="1"/>
          <p:nvPr/>
        </p:nvSpPr>
        <p:spPr>
          <a:xfrm>
            <a:off x="584136" y="5267420"/>
            <a:ext cx="5334128" cy="547372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3000" b="1"/>
              <a:t>1</a:t>
            </a:r>
            <a:r>
              <a:rPr lang="ko-KR" altLang="en-US" sz="3000" b="1"/>
              <a:t>번 차량 위치</a:t>
            </a:r>
            <a:r>
              <a:rPr lang="en-US" altLang="ko-KR" sz="3000" b="1"/>
              <a:t>,</a:t>
            </a:r>
            <a:r>
              <a:rPr lang="ko-KR" altLang="en-US" sz="3000" b="1"/>
              <a:t> 주차 위치 입력</a:t>
            </a:r>
            <a:endParaRPr lang="ko-KR" altLang="en-US" sz="3000" b="1"/>
          </a:p>
        </p:txBody>
      </p:sp>
      <p:sp>
        <p:nvSpPr>
          <p:cNvPr id="8" name="가로 글상자 7"/>
          <p:cNvSpPr txBox="1"/>
          <p:nvPr/>
        </p:nvSpPr>
        <p:spPr>
          <a:xfrm>
            <a:off x="6096000" y="5267420"/>
            <a:ext cx="5334128" cy="547372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3000" b="1"/>
              <a:t>1</a:t>
            </a:r>
            <a:r>
              <a:rPr lang="ko-KR" altLang="en-US" sz="3000" b="1"/>
              <a:t>번 번호판 입력 오류 시연</a:t>
            </a:r>
            <a:endParaRPr lang="ko-KR" altLang="en-US" sz="3000" b="1"/>
          </a:p>
        </p:txBody>
      </p:sp>
    </p:spTree>
    <p:extLst>
      <p:ext uri="{BB962C8B-B14F-4D97-AF65-F5344CB8AC3E}">
        <p14:creationId xmlns:p14="http://schemas.microsoft.com/office/powerpoint/2010/main" val="373658645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63860" y="721995"/>
            <a:ext cx="4464279" cy="5188216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177800" y="234948"/>
            <a:ext cx="1701799" cy="48704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600" b="1"/>
              <a:t>시연 캡처</a:t>
            </a:r>
            <a:endParaRPr lang="ko-KR" altLang="en-US" sz="2600" b="1"/>
          </a:p>
        </p:txBody>
      </p:sp>
      <p:sp>
        <p:nvSpPr>
          <p:cNvPr id="6" name="가로 글상자 5"/>
          <p:cNvSpPr txBox="1"/>
          <p:nvPr/>
        </p:nvSpPr>
        <p:spPr>
          <a:xfrm>
            <a:off x="2628336" y="6000750"/>
            <a:ext cx="6935315" cy="541020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3000" b="1"/>
              <a:t>3</a:t>
            </a:r>
            <a:r>
              <a:rPr lang="ko-KR" altLang="en-US" sz="3000" b="1"/>
              <a:t>번 차량 현황 조회</a:t>
            </a:r>
            <a:endParaRPr lang="ko-KR" altLang="en-US" sz="3000" b="1"/>
          </a:p>
        </p:txBody>
      </p:sp>
    </p:spTree>
    <p:extLst>
      <p:ext uri="{BB962C8B-B14F-4D97-AF65-F5344CB8AC3E}">
        <p14:creationId xmlns:p14="http://schemas.microsoft.com/office/powerpoint/2010/main" val="3408877379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12784" y="1031761"/>
            <a:ext cx="3549832" cy="402610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53108" y="850777"/>
            <a:ext cx="3581584" cy="4388075"/>
          </a:xfrm>
          <a:prstGeom prst="rect">
            <a:avLst/>
          </a:prstGeom>
        </p:spPr>
      </p:pic>
      <p:sp>
        <p:nvSpPr>
          <p:cNvPr id="6" name="가로 글상자 5"/>
          <p:cNvSpPr txBox="1"/>
          <p:nvPr/>
        </p:nvSpPr>
        <p:spPr>
          <a:xfrm>
            <a:off x="177800" y="234948"/>
            <a:ext cx="1701799" cy="48704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600" b="1"/>
              <a:t>시연 캡처</a:t>
            </a:r>
            <a:endParaRPr lang="ko-KR" altLang="en-US" sz="2600" b="1"/>
          </a:p>
        </p:txBody>
      </p:sp>
      <p:sp>
        <p:nvSpPr>
          <p:cNvPr id="7" name="가로 글상자 6"/>
          <p:cNvSpPr txBox="1"/>
          <p:nvPr/>
        </p:nvSpPr>
        <p:spPr>
          <a:xfrm>
            <a:off x="1412784" y="5149849"/>
            <a:ext cx="3549832" cy="544196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3000" b="1"/>
              <a:t>4</a:t>
            </a:r>
            <a:r>
              <a:rPr lang="ko-KR" altLang="en-US" sz="3000" b="1"/>
              <a:t>번 차량 위치 검색</a:t>
            </a:r>
            <a:endParaRPr lang="ko-KR" altLang="en-US" sz="3000" b="1"/>
          </a:p>
        </p:txBody>
      </p:sp>
      <p:sp>
        <p:nvSpPr>
          <p:cNvPr id="8" name="가로 글상자 7"/>
          <p:cNvSpPr txBox="1"/>
          <p:nvPr/>
        </p:nvSpPr>
        <p:spPr>
          <a:xfrm>
            <a:off x="6584860" y="5321299"/>
            <a:ext cx="3549832" cy="544195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3000" b="1"/>
              <a:t>2</a:t>
            </a:r>
            <a:r>
              <a:rPr lang="ko-KR" altLang="en-US" sz="3000" b="1"/>
              <a:t>번 차량 출차</a:t>
            </a:r>
            <a:endParaRPr lang="ko-KR" altLang="en-US" sz="3000" b="1"/>
          </a:p>
        </p:txBody>
      </p:sp>
    </p:spTree>
    <p:extLst>
      <p:ext uri="{BB962C8B-B14F-4D97-AF65-F5344CB8AC3E}">
        <p14:creationId xmlns:p14="http://schemas.microsoft.com/office/powerpoint/2010/main" val="2554416464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28342" y="965138"/>
            <a:ext cx="6935314" cy="4927723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177800" y="234948"/>
            <a:ext cx="1701799" cy="48704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600" b="1"/>
              <a:t>시연 캡처</a:t>
            </a:r>
            <a:endParaRPr lang="ko-KR" altLang="en-US" sz="2600" b="1"/>
          </a:p>
        </p:txBody>
      </p:sp>
      <p:sp>
        <p:nvSpPr>
          <p:cNvPr id="6" name="가로 글상자 5"/>
          <p:cNvSpPr txBox="1"/>
          <p:nvPr/>
        </p:nvSpPr>
        <p:spPr>
          <a:xfrm>
            <a:off x="2628336" y="6000750"/>
            <a:ext cx="6935315" cy="541020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 sz="3000" b="1"/>
              <a:t>5.</a:t>
            </a:r>
            <a:r>
              <a:rPr lang="ko-KR" altLang="en-US" sz="3000" b="1"/>
              <a:t> 프로그램 종료</a:t>
            </a:r>
            <a:endParaRPr lang="ko-KR" altLang="en-US" sz="3000" b="1"/>
          </a:p>
        </p:txBody>
      </p:sp>
    </p:spTree>
    <p:extLst>
      <p:ext uri="{BB962C8B-B14F-4D97-AF65-F5344CB8AC3E}">
        <p14:creationId xmlns:p14="http://schemas.microsoft.com/office/powerpoint/2010/main" val="4249712837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2857500"/>
            <a:ext cx="10972798" cy="1143000"/>
          </a:xfrm>
        </p:spPr>
        <p:txBody>
          <a:bodyPr/>
          <a:p>
            <a:pPr lvl="0">
              <a:defRPr/>
            </a:pPr>
            <a:r>
              <a:rPr lang="ko-KR" altLang="en-US" sz="6600" b="1"/>
              <a:t>감사합니다</a:t>
            </a:r>
            <a:endParaRPr lang="en-US" altLang="ko-KR" sz="6600" b="1"/>
          </a:p>
        </p:txBody>
      </p:sp>
      <p:sp>
        <p:nvSpPr>
          <p:cNvPr id="4" name="가로 글상자 3"/>
          <p:cNvSpPr txBox="1"/>
          <p:nvPr/>
        </p:nvSpPr>
        <p:spPr>
          <a:xfrm>
            <a:off x="2603500" y="6096000"/>
            <a:ext cx="9499600" cy="550545"/>
          </a:xfrm>
          <a:prstGeom prst="rect">
            <a:avLst/>
          </a:prstGeom>
        </p:spPr>
        <p:txBody>
          <a:bodyPr wrap="square">
            <a:spAutoFit/>
          </a:bodyPr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xmlns:mc="http://schemas.openxmlformats.org/markup-compatibility/2006" xmlns:hp="http://schemas.haansoft.com/office/presentation/8.0" lang="EN-US" sz="19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GitHub Repository </a:t>
            </a:r>
            <a:r>
              <a:rPr xmlns:mc="http://schemas.openxmlformats.org/markup-compatibility/2006" xmlns:hp="http://schemas.haansoft.com/office/presentation/8.0" sz="19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  <a:cs typeface="함초롬바탕"/>
              </a:rPr>
              <a:t>주소 </a:t>
            </a:r>
            <a:r>
              <a:rPr xmlns:mc="http://schemas.openxmlformats.org/markup-compatibility/2006" xmlns:hp="http://schemas.haansoft.com/office/presentation/8.0" lang="EN-US" sz="1900" b="1" i="0" u="none" strike="noStrike" baseline="0" mc:Ignorable="hp" hp:hslEmbossed="0">
                <a:solidFill>
                  <a:srgbClr val="000000"/>
                </a:solidFill>
                <a:latin typeface="함초롬바탕"/>
                <a:ea typeface="함초롬바탕"/>
              </a:rPr>
              <a:t>: https://github.com/drective/programming_project.git</a:t>
            </a:r>
            <a:endParaRPr lang="ko-KR" altLang="en-US" sz="1900" b="1"/>
          </a:p>
        </p:txBody>
      </p:sp>
    </p:spTree>
    <p:extLst>
      <p:ext uri="{BB962C8B-B14F-4D97-AF65-F5344CB8AC3E}">
        <p14:creationId xmlns:p14="http://schemas.microsoft.com/office/powerpoint/2010/main" val="395728627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288</ep:Words>
  <ep:PresentationFormat>화면 슬라이드 쇼(4:3)</ep:PresentationFormat>
  <ep:Paragraphs>37</ep:Paragraphs>
  <ep:Slides>14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한컴오피스</vt:lpstr>
      <vt:lpstr>데이터 처리/관리</vt:lpstr>
      <vt:lpstr>주차장 관리 프로그램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감사합니다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2025-12-01T09:28:02.838</dcterms:created>
  <dc:creator>lim24</dc:creator>
  <cp:lastModifiedBy>lim24</cp:lastModifiedBy>
  <dcterms:modified xsi:type="dcterms:W3CDTF">2025-12-01T10:36:54.523</dcterms:modified>
  <cp:revision>23</cp:revision>
  <dc:title>데이터 처리/관리</dc:title>
  <cp:version>13.0.0.2151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